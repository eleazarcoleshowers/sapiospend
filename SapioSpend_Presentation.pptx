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40"/>
    <p:restoredTop sz="94643"/>
  </p:normalViewPr>
  <p:slideViewPr>
    <p:cSldViewPr snapToGrid="0" snapToObjects="1">
      <p:cViewPr varScale="1">
        <p:scale>
          <a:sx n="159" d="100"/>
          <a:sy n="159" d="100"/>
        </p:scale>
        <p:origin x="2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dirty="0" err="1">
                <a:solidFill>
                  <a:srgbClr val="FFFFFF"/>
                </a:solidFill>
              </a:rPr>
              <a:t>SapioSpend</a:t>
            </a:r>
            <a:endParaRPr sz="4800" b="1" dirty="0">
              <a:solidFill>
                <a:srgbClr val="FFFFFF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3009499"/>
            <a:ext cx="100584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AAAAAA"/>
                </a:solidFill>
              </a:rPr>
              <a:t>Android Event Budget Planner</a:t>
            </a:r>
            <a:endParaRPr lang="en-GB" sz="2000" b="0" dirty="0">
              <a:solidFill>
                <a:srgbClr val="AAAAAA"/>
              </a:solidFill>
            </a:endParaRPr>
          </a:p>
          <a:p>
            <a:r>
              <a:rPr lang="en-GB" sz="2000" dirty="0">
                <a:solidFill>
                  <a:srgbClr val="777777"/>
                </a:solidFill>
              </a:rPr>
              <a:t>Name: Eleazar Cole-Showers.   </a:t>
            </a:r>
          </a:p>
          <a:p>
            <a:r>
              <a:rPr lang="en-GB" sz="2000" dirty="0">
                <a:solidFill>
                  <a:srgbClr val="777777"/>
                </a:solidFill>
              </a:rPr>
              <a:t>Matriculation Number : 92131419</a:t>
            </a:r>
          </a:p>
          <a:p>
            <a:r>
              <a:rPr lang="en-GB" sz="2000" dirty="0">
                <a:solidFill>
                  <a:srgbClr val="777777"/>
                </a:solidFill>
              </a:rPr>
              <a:t>Course Code: DLBSEPPSD01_E</a:t>
            </a:r>
            <a:br>
              <a:rPr lang="en-GB" sz="2000" dirty="0">
                <a:solidFill>
                  <a:srgbClr val="777777"/>
                </a:solidFill>
              </a:rPr>
            </a:br>
            <a:r>
              <a:rPr lang="en-GB" sz="2000" dirty="0" err="1">
                <a:solidFill>
                  <a:srgbClr val="777777"/>
                </a:solidFill>
              </a:rPr>
              <a:t>Github</a:t>
            </a:r>
            <a:r>
              <a:rPr lang="en-GB" sz="2000" dirty="0">
                <a:solidFill>
                  <a:srgbClr val="777777"/>
                </a:solidFill>
              </a:rPr>
              <a:t>: https://</a:t>
            </a:r>
            <a:r>
              <a:rPr lang="en-GB" sz="2000" dirty="0" err="1">
                <a:solidFill>
                  <a:srgbClr val="777777"/>
                </a:solidFill>
              </a:rPr>
              <a:t>github.com</a:t>
            </a:r>
            <a:r>
              <a:rPr lang="en-GB" sz="2000" dirty="0">
                <a:solidFill>
                  <a:srgbClr val="777777"/>
                </a:solidFill>
              </a:rPr>
              <a:t>/</a:t>
            </a:r>
            <a:r>
              <a:rPr lang="en-GB" sz="2000" dirty="0" err="1">
                <a:solidFill>
                  <a:srgbClr val="777777"/>
                </a:solidFill>
              </a:rPr>
              <a:t>EleazarColeShowers</a:t>
            </a:r>
            <a:r>
              <a:rPr lang="en-GB" sz="2000" dirty="0">
                <a:solidFill>
                  <a:srgbClr val="777777"/>
                </a:solidFill>
              </a:rPr>
              <a:t>/</a:t>
            </a:r>
            <a:r>
              <a:rPr lang="en-GB" sz="2000" dirty="0" err="1">
                <a:solidFill>
                  <a:srgbClr val="777777"/>
                </a:solidFill>
              </a:rPr>
              <a:t>SapioSpend</a:t>
            </a:r>
            <a:endParaRPr lang="en-GB" sz="2000" dirty="0">
              <a:solidFill>
                <a:srgbClr val="777777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200" b="0" dirty="0">
                <a:solidFill>
                  <a:srgbClr val="777777"/>
                </a:solidFill>
              </a:rPr>
              <a:t>Name: Eleazar Cole-Showers. </a:t>
            </a:r>
            <a:r>
              <a:rPr lang="en-GB" sz="1200" dirty="0">
                <a:solidFill>
                  <a:srgbClr val="777777"/>
                </a:solidFill>
              </a:rPr>
              <a:t>  </a:t>
            </a:r>
          </a:p>
          <a:p>
            <a:pPr algn="l"/>
            <a:r>
              <a:rPr lang="en-GB" sz="1200" b="0" dirty="0">
                <a:solidFill>
                  <a:srgbClr val="777777"/>
                </a:solidFill>
              </a:rPr>
              <a:t>Matriculation Number : 92131419</a:t>
            </a:r>
          </a:p>
          <a:p>
            <a:pPr algn="l"/>
            <a:r>
              <a:rPr lang="en-GB" sz="1200" dirty="0">
                <a:solidFill>
                  <a:srgbClr val="777777"/>
                </a:solidFill>
              </a:rPr>
              <a:t>Course Code: DLBSEPPSD01_E</a:t>
            </a:r>
            <a:endParaRPr lang="en-GB" sz="1200" b="0" dirty="0">
              <a:solidFill>
                <a:srgbClr val="777777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111"/>
                </a:solidFill>
              </a:rPr>
              <a:t>Problem Statement &amp; 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Planning events in Nigeria typically involves juggling WhatsApp messages, paper notes, and mental maths. There is no dedicated tool that lets a person set a budget for an event, log spending by category, and immediately see how much is left.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Who uses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Individuals planning personal events (birthdays, weddings)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157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Small event organisers tracking vendor payments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99815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Anyone who sets a budget and needs to know if they are over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659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Why a mobile app?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317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Expenses are recorded at the point of purchase, not later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71576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Always in your pocket — no laptop needed at a 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099815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Instant feedback: the progress bar turns red when over budget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111"/>
                </a:solidFill>
              </a:rPr>
              <a:t>App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Four screens, one shared ViewModel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642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5394960" cy="1920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69163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Lists all events with a live budget / spent / remaining summary card at the top.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554480"/>
            <a:ext cx="5394960" cy="1920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69163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Add 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Form to create a new event: name, total budget, and event type (chip selector).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5394960" cy="1920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39776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Event Detail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343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Shows the budget breakdown for one event, expenses by category, and the full expense list.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840480"/>
            <a:ext cx="5394960" cy="1920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39776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Add Expense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343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Form to log a spending item: title, amount, and category.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111"/>
                </a:solidFill>
              </a:rPr>
              <a:t>Wireframes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Simplified screen layouts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642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</a:rPr>
              <a:t>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2560320" cy="457200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22860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F2937"/>
                </a:solidFill>
                <a:latin typeface="Courier New"/>
              </a:rPr>
              <a:t>┌──────────────────┐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SapioSpend   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───────────────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Overview card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Budget · Spent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[=========---]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───────────────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Event A    › 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Event B    › 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            [+]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└──────────────────┘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417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</a:rPr>
              <a:t>Add Event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737360"/>
            <a:ext cx="2560320" cy="457200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9000" y="1828800"/>
            <a:ext cx="22860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F2937"/>
                </a:solidFill>
                <a:latin typeface="Courier New"/>
              </a:rPr>
              <a:t>┌──────────────────┐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← New Event   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───────────────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Event Name   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[____________]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Total Budget(₦)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[____________]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Type:        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[Bday][Wedding]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[ Create Event ]│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└──────────────────┘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</a:rPr>
              <a:t>Event Detail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737360"/>
            <a:ext cx="2560320" cy="457200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1828800"/>
            <a:ext cx="22860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F2937"/>
                </a:solidFill>
                <a:latin typeface="Courier New"/>
              </a:rPr>
              <a:t>┌──────────────────┐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← Party     [🗑]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Budget Overview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Budget · Spent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[=======-----]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By Category  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Food    ₦10 000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Venue   ₦40 000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Expenses    [+]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Catering ₦10 000│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└──────────────────┘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417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</a:rPr>
              <a:t>Add Expense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737360"/>
            <a:ext cx="2560320" cy="457200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98280" y="1828800"/>
            <a:ext cx="22860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F2937"/>
                </a:solidFill>
                <a:latin typeface="Courier New"/>
              </a:rPr>
              <a:t>┌──────────────────┐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← Add Expense 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───────────────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Expense Title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[____________]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Amount (₦)   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[____________]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Category:    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[Food][Venue]   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│  [ Save Expense ]│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└──────────────────┘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111"/>
                </a:solidFill>
              </a:rPr>
              <a:t>Software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6B7280"/>
                </a:solidFill>
              </a:rPr>
              <a:t>MVVM + Repository 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642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7132320" cy="1005840"/>
          </a:xfrm>
          <a:prstGeom prst="rect">
            <a:avLst/>
          </a:prstGeom>
          <a:solidFill>
            <a:srgbClr val="EFEFE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</a:rPr>
              <a:t>UI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01952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HomeScreen · EventDetailScreen
AddEventScreen · AddExpenseScreen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7132320" cy="1005840"/>
          </a:xfrm>
          <a:prstGeom prst="rect">
            <a:avLst/>
          </a:prstGeom>
          <a:solidFill>
            <a:srgbClr val="E5E7E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8163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</a:rPr>
              <a:t>ViewModel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82112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EventViewModel  (shared across all screens)
StateFlow&lt;List&lt;EventEntity&gt;&gt;  ·  StateFlow&lt;List&lt;ExpenseEntity&gt;&gt;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7132320" cy="1005840"/>
          </a:xfrm>
          <a:prstGeom prst="rect">
            <a:avLst/>
          </a:prstGeom>
          <a:solidFill>
            <a:srgbClr val="DCDCDC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0965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</a:rPr>
              <a:t>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62272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EventRepository  —  decouples ViewModel from Room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303520"/>
            <a:ext cx="7132320" cy="1005840"/>
          </a:xfrm>
          <a:prstGeom prst="rect">
            <a:avLst/>
          </a:prstGeom>
          <a:solidFill>
            <a:srgbClr val="D1D5D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53766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</a:rPr>
              <a:t>Data Layer (Room)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42431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EventDao  ·  ExpenseDao  →  AppDatabase  (SQLite)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468880"/>
            <a:ext cx="731520" cy="2743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40480" y="249631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3749039"/>
            <a:ext cx="731520" cy="2743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840480" y="377647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5029200"/>
            <a:ext cx="731520" cy="2743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80" y="505663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155448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·  Jetpack Compose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28600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·  collectAsState()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83464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·  viewModelScope.launch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6616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·  WhileSubscribed(5000ms)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11480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·  suspend functions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4632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·  Flow-based queries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39496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·  ForeignKey CASCADE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3079" y="5990953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·  In-memory DB for tests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111"/>
                </a:solidFill>
              </a:rPr>
              <a:t>Process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Personal Kanban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642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A full Scrum process (sprints, standups, retrospectives) is designed for teams. For a solo project with a fixed scope and no external stakeholders, a lighter approach makes more sense. I used a personal Kanban board with three columns.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57400"/>
            <a:ext cx="347472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Backlog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4203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Define data model (Event, Expense)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4495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Choose architecture (MVVM)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4787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Sketch wireframes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50791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Set up Room + DAO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5371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Navigation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56631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Write tests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2057400"/>
            <a:ext cx="347472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21031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In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4203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One card at a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04495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Limits work-in-progress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54787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Forces completion before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050791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  starting something new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19" y="2057400"/>
            <a:ext cx="347472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83879" y="21031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54203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EventEntity / ExpenseEntity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04495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AppDatabase + DAOs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354787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EventRepository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4050791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EventViewModel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455371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All four screens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056631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Unit + instrumented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922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Justification: pull-based flow matched the solo development cadence; no ceremony overhead; easy to reprioritise when a task turned out harder than expected.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111"/>
                </a:solidFill>
              </a:rPr>
              <a:t>Implementation — Navigation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Jetpack Navigation Compose + type-safe route arguments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642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Each screen is a composable function. Routes are sealed objects so a typo at the call site is a compile error, not a runtime crash.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212080" cy="210312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1920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dirty="0">
                <a:solidFill>
                  <a:srgbClr val="1F2937"/>
                </a:solidFill>
                <a:latin typeface="Courier New"/>
              </a:rPr>
              <a:t>// 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Routes.kt</a:t>
            </a:r>
            <a:endParaRPr sz="1000" dirty="0">
              <a:solidFill>
                <a:srgbClr val="1F2937"/>
              </a:solidFill>
              <a:latin typeface="Courier New"/>
            </a:endParaRP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sealed class Routes(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val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 route: String) {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    object Home : Routes("home")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    object 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AddEvent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 : Routes("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add_event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")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    object 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EventDetail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 : Routes("event/{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eventId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}") {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        fun 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createRoute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(id: Int) = "event/$id"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    }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    object AddExpense : Routes("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add_expense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/{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eventId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}") {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        fun 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createRoute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(id: Int) = "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add_expense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/$id"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    }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74519"/>
            <a:ext cx="5303520" cy="210312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5029200" cy="1920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F2937"/>
                </a:solidFill>
                <a:latin typeface="Courier New"/>
              </a:rPr>
              <a:t>// AppNavGraph.kt — EventDetail destination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composable(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route = Routes.EventDetail.route,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arguments = listOf(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navArgument("eventId") { type = NavType.IntType }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) { backStackEntry -&gt;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val eventId = backStackEntry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.arguments?.getInt("eventId") ?: return@composable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EventDetailScreen(eventId, onBack = {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navController.popBackStack()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}, eventViewModel = eventViewModel)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The ViewModel is created once in MainActivity and passed down, so the budget totals survive screen transitions without re-querying Room.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111"/>
                </a:solidFill>
              </a:rPr>
              <a:t>Implementation — Data Structures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Room entities with a foreign-key relationship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642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5212080" cy="201168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9377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F2937"/>
                </a:solidFill>
                <a:latin typeface="Courier New"/>
              </a:rPr>
              <a:t>@Entity(tableName = "events")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data class EventEntity(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@PrimaryKey(autoGenerate = true)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val id: Int = 0,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val name: String,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val budget: Double,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val eventType: String = "General"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417320"/>
            <a:ext cx="5303520" cy="265176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5029200" cy="2468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F2937"/>
                </a:solidFill>
                <a:latin typeface="Courier New"/>
              </a:rPr>
              <a:t>@Entity(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tableName = "expenses",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foreignKeys = [ForeignKey(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entity = EventEntity::class,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parentColumns = ["id"],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childColumns  = ["eventId"],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onDelete = ForeignKey.CASCADE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)]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data class ExpenseEntity(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@PrimaryKey(autoGenerate = true) val id: Int = 0,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@ColumnInfo(index = true) val eventId: Int,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val title: String,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val category: String,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val amount: Double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251960"/>
            <a:ext cx="10789920" cy="160020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5156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dirty="0">
                <a:solidFill>
                  <a:srgbClr val="1F2937"/>
                </a:solidFill>
                <a:latin typeface="Courier New"/>
              </a:rPr>
              <a:t>// 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EventDao.kt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 — Flow re-emits whenever the table changes, so the UI updates automatically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@Query("SELECT * FROM events")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fun 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getAllEvents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(): Flow&lt;List&lt;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EventEntity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&gt;&gt;</a:t>
            </a:r>
          </a:p>
          <a:p>
            <a:endParaRPr sz="1000" dirty="0">
              <a:solidFill>
                <a:srgbClr val="1F2937"/>
              </a:solidFill>
              <a:latin typeface="Courier New"/>
            </a:endParaRP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// 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ExpenseDao.kt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 — newest first so the most recent entry appears at the top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@Query("SELECT * FROM expenses WHERE 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eventId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 = :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eventId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 ORDER BY id DESC")</a:t>
            </a:r>
          </a:p>
          <a:p>
            <a:r>
              <a:rPr sz="1000" dirty="0">
                <a:solidFill>
                  <a:srgbClr val="1F2937"/>
                </a:solidFill>
                <a:latin typeface="Courier New"/>
              </a:rPr>
              <a:t>fun 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getExpensesForEvent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(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eventId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: Int): Flow&lt;List&lt;</a:t>
            </a:r>
            <a:r>
              <a:rPr sz="1000" dirty="0" err="1">
                <a:solidFill>
                  <a:srgbClr val="1F2937"/>
                </a:solidFill>
                <a:latin typeface="Courier New"/>
              </a:rPr>
              <a:t>ExpenseEntity</a:t>
            </a:r>
            <a:r>
              <a:rPr sz="1000" dirty="0">
                <a:solidFill>
                  <a:srgbClr val="1F2937"/>
                </a:solidFill>
                <a:latin typeface="Courier New"/>
              </a:rPr>
              <a:t>&gt;&gt;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2F111A-765A-823A-7883-D1C5F4E95E36}"/>
              </a:ext>
            </a:extLst>
          </p:cNvPr>
          <p:cNvSpPr txBox="1"/>
          <p:nvPr/>
        </p:nvSpPr>
        <p:spPr>
          <a:xfrm>
            <a:off x="1000897" y="3954162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111"/>
                </a:solidFill>
              </a:rPr>
              <a:t>Implementation —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ViewModel → Repository → DAO → Room →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642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5212080" cy="301752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937760" cy="2834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F2937"/>
                </a:solidFill>
                <a:latin typeface="Courier New"/>
              </a:rPr>
              <a:t>// EventViewModel.kt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class EventViewModel(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private val repository: EventRepository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) : ViewModel() {</a:t>
            </a:r>
          </a:p>
          <a:p>
            <a:endParaRPr sz="1000">
              <a:solidFill>
                <a:srgbClr val="1F2937"/>
              </a:solidFill>
              <a:latin typeface="Courier New"/>
            </a:endParaRP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// 5 000 ms keeps the flow alive across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// config changes without leaking.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val events = repository.events.stateIn(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viewModelScope,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SharingStarted.WhileSubscribed(5000),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emptyList()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)</a:t>
            </a:r>
          </a:p>
          <a:p>
            <a:endParaRPr sz="1000">
              <a:solidFill>
                <a:srgbClr val="1F2937"/>
              </a:solidFill>
              <a:latin typeface="Courier New"/>
            </a:endParaRP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fun addEvent(name: String,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         budget: Double,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         eventType: String = "General") {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viewModelScope.launch {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    repository.addEvent(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        EventEntity(name, budget, eventType)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    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}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}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417320"/>
            <a:ext cx="5303520" cy="141732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50292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F2937"/>
                </a:solidFill>
                <a:latin typeface="Courier New"/>
              </a:rPr>
              <a:t>// EventRepository.kt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// Keeps the ViewModel from importing Room directly.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class EventRepository(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private val eventDao: EventDao,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private val expenseDao: ExpenseDao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) {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val events = eventDao.getAllEvents()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suspend fun addEvent(e: EventEntity) =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    eventDao.insertEvent(e)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971800"/>
            <a:ext cx="5303520" cy="1417320"/>
          </a:xfrm>
          <a:prstGeom prst="rect">
            <a:avLst/>
          </a:prstGeom>
          <a:solidFill>
            <a:srgbClr val="F8F8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3063240"/>
            <a:ext cx="50292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F2937"/>
                </a:solidFill>
                <a:latin typeface="Courier New"/>
              </a:rPr>
              <a:t>// HomeScreen.kt — collecting state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val events by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eventViewModel.events.collectAsState()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val allExpenses by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    eventViewModel.allExpenses.collectAsState()</a:t>
            </a:r>
          </a:p>
          <a:p>
            <a:endParaRPr sz="1000">
              <a:solidFill>
                <a:srgbClr val="1F2937"/>
              </a:solidFill>
              <a:latin typeface="Courier New"/>
            </a:endParaRP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val totalSpent = allExpenses.sumOf { it.amount }</a:t>
            </a:r>
          </a:p>
          <a:p>
            <a:r>
              <a:rPr sz="1000">
                <a:solidFill>
                  <a:srgbClr val="1F2937"/>
                </a:solidFill>
                <a:latin typeface="Courier New"/>
              </a:rPr>
              <a:t>val remaining  = totalBudget - totalSpent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6B7280"/>
                </a:solidFill>
              </a:rPr>
              <a:t>Room emits a new list every time the database changes. The </a:t>
            </a:r>
            <a:r>
              <a:rPr sz="1200" b="0" dirty="0" err="1">
                <a:solidFill>
                  <a:srgbClr val="6B7280"/>
                </a:solidFill>
              </a:rPr>
              <a:t>StateFlow</a:t>
            </a:r>
            <a:r>
              <a:rPr sz="1200" b="0" dirty="0">
                <a:solidFill>
                  <a:srgbClr val="6B7280"/>
                </a:solidFill>
              </a:rPr>
              <a:t> carries that to the UI, which recomposes automatically — no manual refresh calls anywhere in the app.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111"/>
                </a:solidFill>
              </a:rPr>
              <a:t>Testing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Three layers: unit · ViewModel · instrumented DAO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642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3474720" cy="4846320"/>
          </a:xfrm>
          <a:prstGeom prst="rect">
            <a:avLst/>
          </a:prstGeom>
          <a:solidFill>
            <a:srgbClr val="F5F5F5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</a:rPr>
              <a:t>BudgetCalculationsTest
(JVM unit tests)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No Android context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Tests the exact formulas used in the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4612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remaining = budget − spent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4904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progress clamped to [0, 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category groupBy + sumOf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5488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10 test cases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79" y="1554480"/>
            <a:ext cx="3474720" cy="4846320"/>
          </a:xfrm>
          <a:prstGeom prst="rect">
            <a:avLst/>
          </a:prstGeom>
          <a:solidFill>
            <a:srgbClr val="F5F5F5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34840" y="16002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</a:rPr>
              <a:t>EventViewModelTest
(JVM, fake DAOs)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24028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FakeEventDao / FakeExpenseDao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74320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replace Room with in-memory lists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24612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Tests addEvent, deleteEvent,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74904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  addExpense, deleteExpense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25196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UnconfinedTestDispatcher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75488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6 test cases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19" y="1554480"/>
            <a:ext cx="3474720" cy="4846320"/>
          </a:xfrm>
          <a:prstGeom prst="rect">
            <a:avLst/>
          </a:prstGeom>
          <a:solidFill>
            <a:srgbClr val="F5F5F5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83879" y="16002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</a:rPr>
              <a:t>EventDaoTest
(instrumented)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224028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Real Room, in-memory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74320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Runs on device / emulator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24612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Tests CASCADE delete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374904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Tests insert + retrieve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25196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Tests expense sum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75488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6 test cases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111"/>
                </a:solidFill>
              </a:rPr>
              <a:t>Critical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Goals achieved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✓  All four screens are functional and connected end-to-end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30552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✓  Budget tracking updates in real time as expenses are added or deleted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✓  Material 3 design guidelines followed throughout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25496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✓  22 automated tests cover the 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Possible improvements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→  Export a budget summary to PDF or share via WhatsApp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05072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→  Multi-currency support (not just Naira)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52544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→  Edit an event or expense after creation — currently delete and re-add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00016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→  Charts (pie chart per category) would make the breakdown more visual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111"/>
                </a:solidFill>
              </a:rPr>
              <a:t>Lessons Learned &amp; Personal Development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Technical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47088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WhileSubscribed(5000) is the correct timeout for StateFlow — learned why after a config-change bug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ForeignKey CASCADE must be set in the entity, not the DAO; easy to miss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Fake DAOs make ViewModel tests fast and reliable without mocking frameworks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2384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5643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Kanban worked well solo — limiting WIP stopped me from leaving screens half-finished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0390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Writing tests before the ViewModel caught two logic errors early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34256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</a:rPr>
              <a:t>What I would do differently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1830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Define the data model before any UI — I had to refactor the entity once mid-way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65776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–  Set up the test infrastructure at the start, not as an afterthought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3085</TotalTime>
  <Words>1688</Words>
  <Application>Microsoft Macintosh PowerPoint</Application>
  <PresentationFormat>Custom</PresentationFormat>
  <Paragraphs>272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Eleazar Cole-showers</cp:lastModifiedBy>
  <cp:revision>3</cp:revision>
  <dcterms:created xsi:type="dcterms:W3CDTF">2013-01-27T09:14:16Z</dcterms:created>
  <dcterms:modified xsi:type="dcterms:W3CDTF">2026-07-02T11:42:08Z</dcterms:modified>
  <cp:category/>
</cp:coreProperties>
</file>